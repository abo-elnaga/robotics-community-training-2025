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97" r:id="rId3"/>
    <p:sldId id="39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4BD4-781E-6DB1-3D0F-7FB5ADEC7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E0F13-088C-7916-4AAD-2EAB38F20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32C9E-F6DD-68A3-62E6-BF566C9F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BCD25-342D-6EA5-61D3-5D77BAA4C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512E-BF05-9BB7-B7EC-1751D87C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0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EB6E-2FCC-C07B-6579-488A1687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A3BCB-58D4-7C63-37A7-2EB649EB6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0BF1F-1BEA-D5D0-B602-896D0D47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A63EC-2399-61DE-6A6E-3E80CA9A8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0588C-847D-10A3-C199-C3E5E6F6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6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902BC-547F-69C9-98F2-E57FC930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BD8C6-C533-D71F-0E16-06B9DB94D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738C0-9227-319B-CF88-FA6FB39D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EEDFA-24BD-974E-548F-B9329BBF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278BC-9BD0-5E81-0541-16A30EE2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69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DA63C-85C6-7F3B-E31F-DED1F373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2A736-CCF0-3255-01D4-4DC1ABCD7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D0212-E85C-477B-E067-2E76E5BA9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7F0A5-827E-E516-40CA-D2B488CD7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B27EA-499A-7606-61E9-C8CA4654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67CC3-EA80-AA48-B253-344EB1AD2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4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0865D-EE71-C9DB-BBEE-5B9C8F626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280AC-6562-AFFA-DD53-8817A0BA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5040F-0BEA-A2CA-96FC-448F968AF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114D82-7EB8-15D8-44EE-EB7C4C96A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4BA5E-DD30-BBC8-5B84-DAE5C02AE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4A07CC-9DC6-9E4D-98FE-65A1E65F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03FB2C-6AF7-ECC1-77B7-6393913E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50078-C3E5-239D-C008-E85F84A1B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1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B6A3-F70D-E82D-6D12-62186AF0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2B95D-5A81-8237-553F-5B612B759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1D64E-A92D-094D-3309-7CD58F89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911D2-095B-7944-2CEE-DD140426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0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7BC33-B9C6-FA6D-224A-DE2D0DAF3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D4A0E-CD6D-0C2F-1F3B-26EB96F6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4A8A6-261E-F524-6647-BC1ABF43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9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5B07-5E22-530B-C4FE-42F9AC543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FE4CA-2ACE-1D39-4B90-8F53F0124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2E924-BB0E-95DC-7411-FD74DE9D9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20C9E-9BAD-ED71-3354-52E38E49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B778D-7DB5-B559-E1B4-2AE80D9B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4EB75-AA37-BD20-9769-8786C12C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2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D903-7C00-27CA-8734-26BDF8F72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19A83-E449-98EB-F00F-887235BE1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76D79-EDAF-F4E3-05AA-CBB5720CF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9FBC7-AF31-B6DC-6032-877BAEB4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0F0C6-7CC4-BA27-340B-82040410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B8140-93B7-8CB5-EFD2-9100935E6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7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705A-CB80-70B4-F3B4-7C7819A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5654F-FB3F-CFB2-F109-D1021B3E7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DF244-811B-267D-CCBE-32B96541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43AEC-3DD7-9C09-A7B1-CDED24AF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F8131-62AF-E14F-E88F-B239C1C2C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82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83EA62-8FE3-2347-CE63-9326520C7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30577-2063-111E-B778-5071929F9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2F787-526C-9530-B93C-5EE494F6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39ECF-A73A-B994-BF82-F75D5C865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4A082-3009-528D-635C-9731F799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73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5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104F6-8AE9-B8CC-BA1B-50E607EEE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54A46-28C8-3B70-2A08-00A58F63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7CBD1-E4CC-1660-6B5F-36C88D370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85881-2148-4A97-BAD5-4D4CE5FEBF5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1764-1333-103C-464E-A5BB470DF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14869-0D8F-A3CE-326E-309DDBB02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65589-6407-4D4A-B87B-F10913E2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7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8E12-1364-416C-2D73-28D940D5F0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 (1)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0447C-2212-EE3E-86FD-71321EA29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83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056405-3A01-4B54-DE81-5B7018B64840}"/>
              </a:ext>
            </a:extLst>
          </p:cNvPr>
          <p:cNvSpPr txBox="1"/>
          <p:nvPr/>
        </p:nvSpPr>
        <p:spPr>
          <a:xfrm>
            <a:off x="349624" y="241807"/>
            <a:ext cx="5074023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500" b="1" dirty="0"/>
              <a:t>Model (A)</a:t>
            </a:r>
          </a:p>
          <a:p>
            <a:pPr>
              <a:buNone/>
            </a:pPr>
            <a:endParaRPr lang="en-US" sz="1500" b="1" dirty="0"/>
          </a:p>
          <a:p>
            <a:pPr>
              <a:buNone/>
            </a:pPr>
            <a:r>
              <a:rPr lang="en-US" sz="1500" b="1" dirty="0"/>
              <a:t>1. Which of the following is a high-level language?</a:t>
            </a:r>
          </a:p>
          <a:p>
            <a:pPr>
              <a:buNone/>
            </a:pPr>
            <a:r>
              <a:rPr lang="en-US" sz="1500" dirty="0"/>
              <a:t>A) Assembly</a:t>
            </a:r>
            <a:br>
              <a:rPr lang="en-US" sz="1500" dirty="0"/>
            </a:br>
            <a:r>
              <a:rPr lang="en-US" sz="1500" dirty="0"/>
              <a:t>B) Machine Code</a:t>
            </a:r>
            <a:br>
              <a:rPr lang="en-US" sz="1500" dirty="0"/>
            </a:br>
            <a:r>
              <a:rPr lang="en-US" sz="1500" dirty="0"/>
              <a:t>C) C++</a:t>
            </a:r>
            <a:br>
              <a:rPr lang="en-US" sz="1500" dirty="0"/>
            </a:br>
            <a:r>
              <a:rPr lang="en-US" sz="1500" dirty="0"/>
              <a:t>D) Binary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2. What are low-level languages mainly used for?</a:t>
            </a:r>
          </a:p>
          <a:p>
            <a:pPr>
              <a:buNone/>
            </a:pPr>
            <a:r>
              <a:rPr lang="en-US" sz="1500" dirty="0"/>
              <a:t>A) Website development</a:t>
            </a:r>
            <a:br>
              <a:rPr lang="en-US" sz="1500" dirty="0"/>
            </a:br>
            <a:r>
              <a:rPr lang="en-US" sz="1500" dirty="0"/>
              <a:t>B) Controlling hardware directly</a:t>
            </a:r>
            <a:br>
              <a:rPr lang="en-US" sz="1500" dirty="0"/>
            </a:br>
            <a:r>
              <a:rPr lang="en-US" sz="1500" dirty="0"/>
              <a:t>C) Artificial intelligence</a:t>
            </a:r>
            <a:br>
              <a:rPr lang="en-US" sz="1500" dirty="0"/>
            </a:br>
            <a:r>
              <a:rPr lang="en-US" sz="1500" dirty="0"/>
              <a:t>D) Graphic design</a:t>
            </a:r>
          </a:p>
          <a:p>
            <a:pPr>
              <a:buNone/>
            </a:pPr>
            <a:r>
              <a:rPr lang="en-US" sz="1500" dirty="0"/>
              <a:t> </a:t>
            </a:r>
          </a:p>
          <a:p>
            <a:pPr>
              <a:buNone/>
            </a:pPr>
            <a:r>
              <a:rPr lang="en-US" sz="1500" b="1" dirty="0"/>
              <a:t>3. What does machine code consist of?</a:t>
            </a:r>
          </a:p>
          <a:p>
            <a:pPr>
              <a:buNone/>
            </a:pPr>
            <a:r>
              <a:rPr lang="en-US" sz="1500" dirty="0"/>
              <a:t>A) English words</a:t>
            </a:r>
            <a:br>
              <a:rPr lang="en-US" sz="1500" dirty="0"/>
            </a:br>
            <a:r>
              <a:rPr lang="en-US" sz="1500" dirty="0"/>
              <a:t>B) Numbers and symbols</a:t>
            </a:r>
            <a:br>
              <a:rPr lang="en-US" sz="1500" dirty="0"/>
            </a:br>
            <a:r>
              <a:rPr lang="en-US" sz="1500" dirty="0"/>
              <a:t>C) 0s and 1s</a:t>
            </a:r>
            <a:br>
              <a:rPr lang="en-US" sz="1500" dirty="0"/>
            </a:br>
            <a:r>
              <a:rPr lang="en-US" sz="1500" dirty="0"/>
              <a:t>D) Special characters only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4. Which statement is true about general-purpose languages?</a:t>
            </a:r>
          </a:p>
          <a:p>
            <a:pPr>
              <a:buNone/>
            </a:pPr>
            <a:r>
              <a:rPr lang="en-US" sz="1500" dirty="0"/>
              <a:t>A) They can be used for any type of software development</a:t>
            </a:r>
          </a:p>
          <a:p>
            <a:pPr>
              <a:buNone/>
            </a:pPr>
            <a:r>
              <a:rPr lang="en-US" sz="1500" dirty="0"/>
              <a:t>B) They are used only for one specific task</a:t>
            </a:r>
            <a:br>
              <a:rPr lang="en-US" sz="1500" dirty="0"/>
            </a:br>
            <a:r>
              <a:rPr lang="en-US" sz="1500" dirty="0"/>
              <a:t>C) They are not suitable for AI</a:t>
            </a:r>
            <a:br>
              <a:rPr lang="en-US" sz="1500" dirty="0"/>
            </a:br>
            <a:r>
              <a:rPr lang="en-US" sz="1500" dirty="0"/>
              <a:t>D) They only work on Linux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65946-9FF2-08D8-F9D8-75E562ABDCBA}"/>
              </a:ext>
            </a:extLst>
          </p:cNvPr>
          <p:cNvSpPr txBox="1"/>
          <p:nvPr/>
        </p:nvSpPr>
        <p:spPr>
          <a:xfrm>
            <a:off x="5423648" y="241807"/>
            <a:ext cx="6589058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/>
              <a:t>Model (B)</a:t>
            </a:r>
          </a:p>
          <a:p>
            <a:pPr>
              <a:buNone/>
            </a:pPr>
            <a:endParaRPr lang="en-US" sz="1500" b="1" dirty="0"/>
          </a:p>
          <a:p>
            <a:pPr>
              <a:buNone/>
            </a:pPr>
            <a:r>
              <a:rPr lang="en-US" sz="1500" b="1" dirty="0"/>
              <a:t>1. Which of the following is a domain-specific language?</a:t>
            </a:r>
          </a:p>
          <a:p>
            <a:pPr>
              <a:buNone/>
            </a:pPr>
            <a:r>
              <a:rPr lang="en-US" sz="1500" dirty="0"/>
              <a:t>A) Python</a:t>
            </a:r>
            <a:br>
              <a:rPr lang="en-US" sz="1500" dirty="0"/>
            </a:br>
            <a:r>
              <a:rPr lang="en-US" sz="1500" dirty="0"/>
              <a:t>B) C++</a:t>
            </a:r>
            <a:br>
              <a:rPr lang="en-US" sz="1500" dirty="0"/>
            </a:br>
            <a:r>
              <a:rPr lang="en-US" sz="1500" dirty="0"/>
              <a:t>C) SQL</a:t>
            </a:r>
            <a:br>
              <a:rPr lang="en-US" sz="1500" dirty="0"/>
            </a:br>
            <a:r>
              <a:rPr lang="en-US" sz="1500" dirty="0"/>
              <a:t>D) Java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2. What does IDE stand for?</a:t>
            </a:r>
          </a:p>
          <a:p>
            <a:pPr>
              <a:buNone/>
            </a:pPr>
            <a:r>
              <a:rPr lang="en-US" sz="1500" dirty="0"/>
              <a:t>A) Internal Data Environment</a:t>
            </a:r>
            <a:br>
              <a:rPr lang="en-US" sz="1500" dirty="0"/>
            </a:br>
            <a:r>
              <a:rPr lang="en-US" sz="1500" dirty="0"/>
              <a:t>B) Integrated Development Environment</a:t>
            </a:r>
            <a:br>
              <a:rPr lang="en-US" sz="1500" dirty="0"/>
            </a:br>
            <a:r>
              <a:rPr lang="en-US" sz="1500" dirty="0"/>
              <a:t>C) Internet Development Editor</a:t>
            </a:r>
            <a:br>
              <a:rPr lang="en-US" sz="1500" dirty="0"/>
            </a:br>
            <a:r>
              <a:rPr lang="en-US" sz="1500" dirty="0"/>
              <a:t>D) Interactive Debugging Engine</a:t>
            </a:r>
          </a:p>
          <a:p>
            <a:pPr>
              <a:buNone/>
            </a:pPr>
            <a:r>
              <a:rPr lang="en-US" sz="1500" dirty="0"/>
              <a:t> </a:t>
            </a:r>
          </a:p>
          <a:p>
            <a:pPr>
              <a:buNone/>
            </a:pPr>
            <a:r>
              <a:rPr lang="en-US" sz="1500" b="1" dirty="0"/>
              <a:t>3. What does an IDE usually include?</a:t>
            </a:r>
          </a:p>
          <a:p>
            <a:pPr>
              <a:buNone/>
            </a:pPr>
            <a:r>
              <a:rPr lang="en-US" sz="1500" dirty="0"/>
              <a:t>A) Compiler and text editor only</a:t>
            </a:r>
            <a:br>
              <a:rPr lang="en-US" sz="1500" dirty="0"/>
            </a:br>
            <a:r>
              <a:rPr lang="en-US" sz="1500" dirty="0"/>
              <a:t>B) Editor, compiler/interpreter, and debugger</a:t>
            </a:r>
            <a:br>
              <a:rPr lang="en-US" sz="1500" dirty="0"/>
            </a:br>
            <a:r>
              <a:rPr lang="en-US" sz="1500" dirty="0"/>
              <a:t>C) Hardware simulator</a:t>
            </a:r>
            <a:br>
              <a:rPr lang="en-US" sz="1500" dirty="0"/>
            </a:br>
            <a:r>
              <a:rPr lang="en-US" sz="1500" dirty="0"/>
              <a:t>D) File explorer only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4. What is syntax in programming?</a:t>
            </a:r>
          </a:p>
          <a:p>
            <a:pPr>
              <a:buNone/>
            </a:pPr>
            <a:r>
              <a:rPr lang="en-US" sz="1500" dirty="0"/>
              <a:t>A) The meaning of the code</a:t>
            </a:r>
            <a:br>
              <a:rPr lang="en-US" sz="1500" dirty="0"/>
            </a:br>
            <a:r>
              <a:rPr lang="en-US" sz="1500" dirty="0"/>
              <a:t>B) The logical design of a program</a:t>
            </a:r>
            <a:br>
              <a:rPr lang="en-US" sz="1500" dirty="0"/>
            </a:br>
            <a:r>
              <a:rPr lang="en-US" sz="1500" dirty="0"/>
              <a:t>C) The grammar and structure rules of a programming language</a:t>
            </a:r>
            <a:br>
              <a:rPr lang="en-US" sz="1500" dirty="0"/>
            </a:br>
            <a:r>
              <a:rPr lang="en-US" sz="1500" dirty="0"/>
              <a:t>D) The hardware setup</a:t>
            </a:r>
          </a:p>
          <a:p>
            <a:pPr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96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2AF4FF-C330-3319-1D79-41A816AD1C3D}"/>
              </a:ext>
            </a:extLst>
          </p:cNvPr>
          <p:cNvSpPr txBox="1"/>
          <p:nvPr/>
        </p:nvSpPr>
        <p:spPr>
          <a:xfrm>
            <a:off x="168349" y="158874"/>
            <a:ext cx="6166883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1" dirty="0"/>
              <a:t>5. What happens if syntax rules are not followed?</a:t>
            </a:r>
          </a:p>
          <a:p>
            <a:pPr>
              <a:buNone/>
            </a:pPr>
            <a:r>
              <a:rPr lang="en-US" sz="1500" dirty="0"/>
              <a:t>A) The code will not execute</a:t>
            </a:r>
            <a:br>
              <a:rPr lang="en-US" sz="1500" dirty="0"/>
            </a:br>
            <a:r>
              <a:rPr lang="en-US" sz="1500" dirty="0"/>
              <a:t>B) The code runs faster </a:t>
            </a:r>
            <a:br>
              <a:rPr lang="en-US" sz="1500" dirty="0"/>
            </a:br>
            <a:r>
              <a:rPr lang="en-US" sz="1500" dirty="0"/>
              <a:t>C) The code becomes encrypted</a:t>
            </a:r>
            <a:br>
              <a:rPr lang="en-US" sz="1500" dirty="0"/>
            </a:br>
            <a:r>
              <a:rPr lang="en-US" sz="1500" dirty="0"/>
              <a:t>D) The computer ignores the mistake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6. What is the main difference between a compiler and an interpreter?</a:t>
            </a:r>
          </a:p>
          <a:p>
            <a:pPr>
              <a:buNone/>
            </a:pPr>
            <a:r>
              <a:rPr lang="en-US" sz="1500" dirty="0"/>
              <a:t>A) Compiler translates line by line, interpreter translates all at once</a:t>
            </a:r>
            <a:br>
              <a:rPr lang="en-US" sz="1500" dirty="0"/>
            </a:br>
            <a:r>
              <a:rPr lang="en-US" sz="1500" dirty="0"/>
              <a:t>B) Compiler translates all at once, interpreter translates line by line</a:t>
            </a:r>
            <a:br>
              <a:rPr lang="en-US" sz="1500" dirty="0"/>
            </a:br>
            <a:r>
              <a:rPr lang="en-US" sz="1500" dirty="0"/>
              <a:t>C) Both translate line by line</a:t>
            </a:r>
            <a:br>
              <a:rPr lang="en-US" sz="1500" dirty="0"/>
            </a:br>
            <a:r>
              <a:rPr lang="en-US" sz="1500" dirty="0"/>
              <a:t>D) Both translate the entire code together</a:t>
            </a:r>
          </a:p>
          <a:p>
            <a:pPr>
              <a:buNone/>
            </a:pPr>
            <a:endParaRPr lang="en-US" sz="1500" b="1" dirty="0"/>
          </a:p>
          <a:p>
            <a:pPr>
              <a:buNone/>
            </a:pPr>
            <a:r>
              <a:rPr lang="en-US" sz="1500" b="1" dirty="0"/>
              <a:t>7. Which tool is mainly used to write code?</a:t>
            </a:r>
          </a:p>
          <a:p>
            <a:pPr>
              <a:buNone/>
            </a:pPr>
            <a:r>
              <a:rPr lang="en-US" sz="1500" dirty="0"/>
              <a:t>A) Compiler</a:t>
            </a:r>
            <a:br>
              <a:rPr lang="en-US" sz="1500" dirty="0"/>
            </a:br>
            <a:r>
              <a:rPr lang="en-US" sz="1500" dirty="0"/>
              <a:t>B) Debugger </a:t>
            </a:r>
            <a:br>
              <a:rPr lang="en-US" sz="1500" dirty="0"/>
            </a:br>
            <a:r>
              <a:rPr lang="en-US" sz="1500" dirty="0"/>
              <a:t>C) Interpreter</a:t>
            </a:r>
            <a:br>
              <a:rPr lang="en-US" sz="1500" dirty="0"/>
            </a:br>
            <a:r>
              <a:rPr lang="en-US" sz="1500" dirty="0"/>
              <a:t>D) Editor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8. Which data type is used to store decimal numbers?</a:t>
            </a:r>
          </a:p>
          <a:p>
            <a:pPr>
              <a:buNone/>
            </a:pPr>
            <a:r>
              <a:rPr lang="en-US" sz="1500" dirty="0"/>
              <a:t>A) int</a:t>
            </a:r>
            <a:br>
              <a:rPr lang="en-US" sz="1500" dirty="0"/>
            </a:br>
            <a:r>
              <a:rPr lang="en-US" sz="1500" dirty="0"/>
              <a:t>B) float</a:t>
            </a:r>
            <a:br>
              <a:rPr lang="en-US" sz="1500" dirty="0"/>
            </a:br>
            <a:r>
              <a:rPr lang="en-US" sz="1500" dirty="0"/>
              <a:t>C) string</a:t>
            </a:r>
            <a:br>
              <a:rPr lang="en-US" sz="1500" dirty="0"/>
            </a:br>
            <a:r>
              <a:rPr lang="en-US" sz="1500" dirty="0"/>
              <a:t>D) bool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D3E9D-9353-FD65-7725-9F380454C3D4}"/>
              </a:ext>
            </a:extLst>
          </p:cNvPr>
          <p:cNvSpPr txBox="1"/>
          <p:nvPr/>
        </p:nvSpPr>
        <p:spPr>
          <a:xfrm>
            <a:off x="6096000" y="158874"/>
            <a:ext cx="6096000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1" dirty="0"/>
              <a:t>5. What is the output of the following code?</a:t>
            </a:r>
          </a:p>
          <a:p>
            <a:pPr rtl="0">
              <a:buNone/>
            </a:pPr>
            <a:r>
              <a:rPr lang="en-US" sz="1500" dirty="0">
                <a:latin typeface="Courier New" panose="02070309020205020404" pitchFamily="49" charset="0"/>
              </a:rPr>
              <a:t>x = 10</a:t>
            </a:r>
          </a:p>
          <a:p>
            <a:pPr rtl="0">
              <a:buNone/>
            </a:pPr>
            <a:r>
              <a:rPr lang="en-US" sz="1500" dirty="0">
                <a:latin typeface="Courier New" panose="02070309020205020404" pitchFamily="49" charset="0"/>
              </a:rPr>
              <a:t>if x &gt; 5:</a:t>
            </a:r>
          </a:p>
          <a:p>
            <a:pPr rtl="0">
              <a:buNone/>
            </a:pPr>
            <a:r>
              <a:rPr lang="en-US" sz="1500" dirty="0">
                <a:latin typeface="Courier New" panose="02070309020205020404" pitchFamily="49" charset="0"/>
              </a:rPr>
              <a:t>    print("Big")</a:t>
            </a:r>
          </a:p>
          <a:p>
            <a:pPr rtl="0">
              <a:buNone/>
            </a:pPr>
            <a:r>
              <a:rPr lang="en-US" sz="1500" dirty="0">
                <a:latin typeface="Courier New" panose="02070309020205020404" pitchFamily="49" charset="0"/>
              </a:rPr>
              <a:t>else:</a:t>
            </a:r>
          </a:p>
          <a:p>
            <a:pPr rtl="0">
              <a:buNone/>
            </a:pPr>
            <a:r>
              <a:rPr lang="en-US" sz="1500" dirty="0">
                <a:latin typeface="Courier New" panose="02070309020205020404" pitchFamily="49" charset="0"/>
              </a:rPr>
              <a:t>    print("Small")</a:t>
            </a:r>
          </a:p>
          <a:p>
            <a:pPr rtl="0">
              <a:buNone/>
            </a:pPr>
            <a:endParaRPr lang="en-US" sz="15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500" dirty="0"/>
              <a:t>A) Big</a:t>
            </a:r>
            <a:br>
              <a:rPr lang="en-US" sz="1500" dirty="0"/>
            </a:br>
            <a:r>
              <a:rPr lang="en-US" sz="1500" dirty="0"/>
              <a:t>B) Small</a:t>
            </a:r>
            <a:br>
              <a:rPr lang="en-US" sz="1500" dirty="0"/>
            </a:br>
            <a:r>
              <a:rPr lang="en-US" sz="1500" dirty="0"/>
              <a:t>C) Error</a:t>
            </a:r>
            <a:br>
              <a:rPr lang="en-US" sz="1500" dirty="0"/>
            </a:br>
            <a:r>
              <a:rPr lang="en-US" sz="1500" dirty="0"/>
              <a:t>D) Nothing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6. Which of the following represents a </a:t>
            </a:r>
            <a:r>
              <a:rPr lang="en-US" sz="1500" b="1" dirty="0" err="1"/>
              <a:t>boolean</a:t>
            </a:r>
            <a:r>
              <a:rPr lang="en-US" sz="1500" b="1" dirty="0"/>
              <a:t> value?</a:t>
            </a:r>
          </a:p>
          <a:p>
            <a:pPr>
              <a:buNone/>
            </a:pPr>
            <a:r>
              <a:rPr lang="en-US" sz="1500" dirty="0"/>
              <a:t>A) “Yes” and “No”</a:t>
            </a:r>
            <a:br>
              <a:rPr lang="en-US" sz="1500" dirty="0"/>
            </a:br>
            <a:r>
              <a:rPr lang="en-US" sz="1500" dirty="0"/>
              <a:t>B) 1 and 0</a:t>
            </a:r>
            <a:br>
              <a:rPr lang="en-US" sz="1500" dirty="0"/>
            </a:br>
            <a:r>
              <a:rPr lang="en-US" sz="1500" dirty="0"/>
              <a:t>C) True and False</a:t>
            </a:r>
            <a:br>
              <a:rPr lang="en-US" sz="1500" dirty="0"/>
            </a:br>
            <a:r>
              <a:rPr lang="en-US" sz="1500" dirty="0"/>
              <a:t>D) Integer numbers only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b="1" dirty="0"/>
              <a:t>7. Which conditional statement is used in Python to make decisions?</a:t>
            </a:r>
          </a:p>
          <a:p>
            <a:pPr>
              <a:buNone/>
            </a:pPr>
            <a:r>
              <a:rPr lang="en-US" sz="1500" dirty="0"/>
              <a:t>A) loop</a:t>
            </a:r>
            <a:br>
              <a:rPr lang="en-US" sz="1500" dirty="0"/>
            </a:br>
            <a:r>
              <a:rPr lang="en-US" sz="1500" dirty="0"/>
              <a:t>B) while</a:t>
            </a:r>
            <a:br>
              <a:rPr lang="en-US" sz="1500" dirty="0"/>
            </a:br>
            <a:r>
              <a:rPr lang="en-US" sz="1500" dirty="0"/>
              <a:t>C) if–else</a:t>
            </a:r>
            <a:br>
              <a:rPr lang="en-US" sz="1500" dirty="0"/>
            </a:br>
            <a:r>
              <a:rPr lang="en-US" sz="1500" dirty="0"/>
              <a:t>D) switch</a:t>
            </a:r>
          </a:p>
        </p:txBody>
      </p:sp>
    </p:spTree>
    <p:extLst>
      <p:ext uri="{BB962C8B-B14F-4D97-AF65-F5344CB8AC3E}">
        <p14:creationId xmlns:p14="http://schemas.microsoft.com/office/powerpoint/2010/main" val="82341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Widescreen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Office Theme</vt:lpstr>
      <vt:lpstr>QUIZ (1)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</dc:creator>
  <cp:lastModifiedBy>m</cp:lastModifiedBy>
  <cp:revision>1</cp:revision>
  <dcterms:created xsi:type="dcterms:W3CDTF">2025-11-01T16:28:10Z</dcterms:created>
  <dcterms:modified xsi:type="dcterms:W3CDTF">2025-11-01T16:28:26Z</dcterms:modified>
</cp:coreProperties>
</file>