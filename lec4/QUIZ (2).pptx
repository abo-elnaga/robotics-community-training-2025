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97" r:id="rId3"/>
    <p:sldId id="396" r:id="rId4"/>
    <p:sldId id="401" r:id="rId5"/>
    <p:sldId id="398" r:id="rId6"/>
    <p:sldId id="39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74BD4-781E-6DB1-3D0F-7FB5ADEC76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8E0F13-088C-7916-4AAD-2EAB38F20F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32C9E-F6DD-68A3-62E6-BF566C9F4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85881-2148-4A97-BAD5-4D4CE5FEBF5E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BCD25-342D-6EA5-61D3-5D77BAA4C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6512E-BF05-9BB7-B7EC-1751D87C8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5589-6407-4D4A-B87B-F10913E23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904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3EB6E-2FCC-C07B-6579-488A1687F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A3BCB-58D4-7C63-37A7-2EB649EB6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0BF1F-1BEA-D5D0-B602-896D0D47B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85881-2148-4A97-BAD5-4D4CE5FEBF5E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A63EC-2399-61DE-6A6E-3E80CA9A8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0588C-847D-10A3-C199-C3E5E6F6C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5589-6407-4D4A-B87B-F10913E23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562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902BC-547F-69C9-98F2-E57FC9305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BD8C6-C533-D71F-0E16-06B9DB94D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738C0-9227-319B-CF88-FA6FB39D8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85881-2148-4A97-BAD5-4D4CE5FEBF5E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EEDFA-24BD-974E-548F-B9329BBF6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278BC-9BD0-5E81-0541-16A30EE2E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5589-6407-4D4A-B87B-F10913E23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669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DA63C-85C6-7F3B-E31F-DED1F3738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2A736-CCF0-3255-01D4-4DC1ABCD7D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D0212-E85C-477B-E067-2E76E5BA97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07F0A5-827E-E516-40CA-D2B488CD7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85881-2148-4A97-BAD5-4D4CE5FEBF5E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7B27EA-499A-7606-61E9-C8CA46541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D67CC3-EA80-AA48-B253-344EB1AD2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5589-6407-4D4A-B87B-F10913E23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240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0865D-EE71-C9DB-BBEE-5B9C8F626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280AC-6562-AFFA-DD53-8817A0BAC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C5040F-0BEA-A2CA-96FC-448F968AF6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114D82-7EB8-15D8-44EE-EB7C4C96AB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A4BA5E-DD30-BBC8-5B84-DAE5C02AE6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4A07CC-9DC6-9E4D-98FE-65A1E65F4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85881-2148-4A97-BAD5-4D4CE5FEBF5E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03FB2C-6AF7-ECC1-77B7-6393913E3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50078-C3E5-239D-C008-E85F84A1B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5589-6407-4D4A-B87B-F10913E23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619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4B6A3-F70D-E82D-6D12-62186AF07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52B95D-5A81-8237-553F-5B612B759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85881-2148-4A97-BAD5-4D4CE5FEBF5E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B1D64E-A92D-094D-3309-7CD58F89C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8911D2-095B-7944-2CEE-DD140426B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5589-6407-4D4A-B87B-F10913E23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803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E7BC33-B9C6-FA6D-224A-DE2D0DAF3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85881-2148-4A97-BAD5-4D4CE5FEBF5E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BD4A0E-CD6D-0C2F-1F3B-26EB96F65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4A8A6-261E-F524-6647-BC1ABF434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5589-6407-4D4A-B87B-F10913E23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895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35B07-5E22-530B-C4FE-42F9AC543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FE4CA-2ACE-1D39-4B90-8F53F0124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F2E924-BB0E-95DC-7411-FD74DE9D9C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20C9E-9BAD-ED71-3354-52E38E492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85881-2148-4A97-BAD5-4D4CE5FEBF5E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CB778D-7DB5-B559-E1B4-2AE80D9B1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D4EB75-AA37-BD20-9769-8786C12C9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5589-6407-4D4A-B87B-F10913E23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124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6D903-7C00-27CA-8734-26BDF8F72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719A83-E449-98EB-F00F-887235BE1B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C76D79-EDAF-F4E3-05AA-CBB5720CFE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29FBC7-AF31-B6DC-6032-877BAEB46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85881-2148-4A97-BAD5-4D4CE5FEBF5E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50F0C6-7CC4-BA27-340B-820404105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EB8140-93B7-8CB5-EFD2-9100935E6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5589-6407-4D4A-B87B-F10913E23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073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2705A-CB80-70B4-F3B4-7C7819A6C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05654F-FB3F-CFB2-F109-D1021B3E78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DF244-811B-267D-CCBE-32B965415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85881-2148-4A97-BAD5-4D4CE5FEBF5E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43AEC-3DD7-9C09-A7B1-CDED24AFF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F8131-62AF-E14F-E88F-B239C1C2C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5589-6407-4D4A-B87B-F10913E23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382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83EA62-8FE3-2347-CE63-9326520C76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730577-2063-111E-B778-5071929F96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2F787-526C-9530-B93C-5EE494F6C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85881-2148-4A97-BAD5-4D4CE5FEBF5E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39ECF-A73A-B994-BF82-F75D5C865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4A082-3009-528D-635C-9731F799B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5589-6407-4D4A-B87B-F10913E23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9732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356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F104F6-8AE9-B8CC-BA1B-50E607EEE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454A46-28C8-3B70-2A08-00A58F630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7CBD1-E4CC-1660-6B5F-36C88D3706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285881-2148-4A97-BAD5-4D4CE5FEBF5E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11764-1333-103C-464E-A5BB470DF5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14869-0D8F-A3CE-326E-309DDBB028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565589-6407-4D4A-B87B-F10913E23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976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C8E12-1364-416C-2D73-28D940D5F0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QUIZ (1)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50447C-2212-EE3E-86FD-71321EA29B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583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056405-3A01-4B54-DE81-5B7018B64840}"/>
              </a:ext>
            </a:extLst>
          </p:cNvPr>
          <p:cNvSpPr txBox="1"/>
          <p:nvPr/>
        </p:nvSpPr>
        <p:spPr>
          <a:xfrm>
            <a:off x="349624" y="241807"/>
            <a:ext cx="5074023" cy="5863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500" b="1" dirty="0"/>
              <a:t>Model (A)</a:t>
            </a:r>
          </a:p>
          <a:p>
            <a:pPr>
              <a:buNone/>
            </a:pPr>
            <a:endParaRPr lang="en-US" sz="1500" b="1" dirty="0"/>
          </a:p>
          <a:p>
            <a:pPr>
              <a:buNone/>
            </a:pPr>
            <a:r>
              <a:rPr lang="en-US" sz="1500" b="1" dirty="0"/>
              <a:t>1. Which of the following is a high-level language?</a:t>
            </a:r>
          </a:p>
          <a:p>
            <a:pPr>
              <a:buNone/>
            </a:pPr>
            <a:r>
              <a:rPr lang="en-US" sz="1500" dirty="0"/>
              <a:t>A) Assembly</a:t>
            </a:r>
            <a:br>
              <a:rPr lang="en-US" sz="1500" dirty="0"/>
            </a:br>
            <a:r>
              <a:rPr lang="en-US" sz="1500" dirty="0"/>
              <a:t>B) Machine Code</a:t>
            </a:r>
            <a:br>
              <a:rPr lang="en-US" sz="1500" dirty="0"/>
            </a:br>
            <a:r>
              <a:rPr lang="en-US" sz="1500" dirty="0"/>
              <a:t>C) C++</a:t>
            </a:r>
            <a:br>
              <a:rPr lang="en-US" sz="1500" dirty="0"/>
            </a:br>
            <a:r>
              <a:rPr lang="en-US" sz="1500" dirty="0"/>
              <a:t>D) Binary</a:t>
            </a:r>
          </a:p>
          <a:p>
            <a:pPr>
              <a:buNone/>
            </a:pPr>
            <a:endParaRPr lang="en-US" sz="1500" dirty="0"/>
          </a:p>
          <a:p>
            <a:pPr>
              <a:buNone/>
            </a:pPr>
            <a:r>
              <a:rPr lang="en-US" sz="1500" b="1" dirty="0"/>
              <a:t>2. What are low-level languages mainly used for?</a:t>
            </a:r>
          </a:p>
          <a:p>
            <a:pPr>
              <a:buNone/>
            </a:pPr>
            <a:r>
              <a:rPr lang="en-US" sz="1500" dirty="0"/>
              <a:t>A) Website development</a:t>
            </a:r>
            <a:br>
              <a:rPr lang="en-US" sz="1500" dirty="0"/>
            </a:br>
            <a:r>
              <a:rPr lang="en-US" sz="1500" dirty="0"/>
              <a:t>B) Controlling hardware directly</a:t>
            </a:r>
            <a:br>
              <a:rPr lang="en-US" sz="1500" dirty="0"/>
            </a:br>
            <a:r>
              <a:rPr lang="en-US" sz="1500" dirty="0"/>
              <a:t>C) Artificial intelligence</a:t>
            </a:r>
            <a:br>
              <a:rPr lang="en-US" sz="1500" dirty="0"/>
            </a:br>
            <a:r>
              <a:rPr lang="en-US" sz="1500" dirty="0"/>
              <a:t>D) Graphic design</a:t>
            </a:r>
          </a:p>
          <a:p>
            <a:pPr>
              <a:buNone/>
            </a:pPr>
            <a:r>
              <a:rPr lang="en-US" sz="1500" dirty="0"/>
              <a:t> </a:t>
            </a:r>
          </a:p>
          <a:p>
            <a:pPr>
              <a:buNone/>
            </a:pPr>
            <a:r>
              <a:rPr lang="en-US" sz="1500" b="1" dirty="0"/>
              <a:t>3. What does machine code consist of?</a:t>
            </a:r>
          </a:p>
          <a:p>
            <a:pPr>
              <a:buNone/>
            </a:pPr>
            <a:r>
              <a:rPr lang="en-US" sz="1500" dirty="0"/>
              <a:t>A) English words</a:t>
            </a:r>
            <a:br>
              <a:rPr lang="en-US" sz="1500" dirty="0"/>
            </a:br>
            <a:r>
              <a:rPr lang="en-US" sz="1500" dirty="0"/>
              <a:t>B) Numbers and symbols</a:t>
            </a:r>
            <a:br>
              <a:rPr lang="en-US" sz="1500" dirty="0"/>
            </a:br>
            <a:r>
              <a:rPr lang="en-US" sz="1500" dirty="0"/>
              <a:t>C) 0s and 1s</a:t>
            </a:r>
            <a:br>
              <a:rPr lang="en-US" sz="1500" dirty="0"/>
            </a:br>
            <a:r>
              <a:rPr lang="en-US" sz="1500" dirty="0"/>
              <a:t>D) Special characters only</a:t>
            </a:r>
          </a:p>
          <a:p>
            <a:pPr>
              <a:buNone/>
            </a:pPr>
            <a:endParaRPr lang="en-US" sz="1500" dirty="0"/>
          </a:p>
          <a:p>
            <a:pPr>
              <a:buNone/>
            </a:pPr>
            <a:r>
              <a:rPr lang="en-US" sz="1500" b="1" dirty="0"/>
              <a:t>4. Which statement is true about general-purpose languages?</a:t>
            </a:r>
          </a:p>
          <a:p>
            <a:pPr>
              <a:buNone/>
            </a:pPr>
            <a:r>
              <a:rPr lang="en-US" sz="1500" dirty="0"/>
              <a:t>A) They can be used for any type of software development</a:t>
            </a:r>
          </a:p>
          <a:p>
            <a:pPr>
              <a:buNone/>
            </a:pPr>
            <a:r>
              <a:rPr lang="en-US" sz="1500" dirty="0"/>
              <a:t>B) They are used only for one specific task</a:t>
            </a:r>
            <a:br>
              <a:rPr lang="en-US" sz="1500" dirty="0"/>
            </a:br>
            <a:r>
              <a:rPr lang="en-US" sz="1500" dirty="0"/>
              <a:t>C) They are not suitable for AI</a:t>
            </a:r>
            <a:br>
              <a:rPr lang="en-US" sz="1500" dirty="0"/>
            </a:br>
            <a:r>
              <a:rPr lang="en-US" sz="1500" dirty="0"/>
              <a:t>D) They only work on Linux systems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165946-9FF2-08D8-F9D8-75E562ABDCBA}"/>
              </a:ext>
            </a:extLst>
          </p:cNvPr>
          <p:cNvSpPr txBox="1"/>
          <p:nvPr/>
        </p:nvSpPr>
        <p:spPr>
          <a:xfrm>
            <a:off x="5423648" y="241807"/>
            <a:ext cx="6589058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b="1" dirty="0"/>
              <a:t>Model (B)</a:t>
            </a:r>
          </a:p>
          <a:p>
            <a:pPr>
              <a:buNone/>
            </a:pPr>
            <a:endParaRPr lang="en-US" sz="1500" b="1" dirty="0"/>
          </a:p>
          <a:p>
            <a:pPr>
              <a:buNone/>
            </a:pPr>
            <a:r>
              <a:rPr lang="en-US" sz="1500" b="1" dirty="0"/>
              <a:t>1. Which of the following is a domain-specific language?</a:t>
            </a:r>
          </a:p>
          <a:p>
            <a:pPr>
              <a:buNone/>
            </a:pPr>
            <a:r>
              <a:rPr lang="en-US" sz="1500" dirty="0"/>
              <a:t>A) Python</a:t>
            </a:r>
            <a:br>
              <a:rPr lang="en-US" sz="1500" dirty="0"/>
            </a:br>
            <a:r>
              <a:rPr lang="en-US" sz="1500" dirty="0"/>
              <a:t>B) C++</a:t>
            </a:r>
            <a:br>
              <a:rPr lang="en-US" sz="1500" dirty="0"/>
            </a:br>
            <a:r>
              <a:rPr lang="en-US" sz="1500" dirty="0"/>
              <a:t>C) SQL</a:t>
            </a:r>
            <a:br>
              <a:rPr lang="en-US" sz="1500" dirty="0"/>
            </a:br>
            <a:r>
              <a:rPr lang="en-US" sz="1500" dirty="0"/>
              <a:t>D) Java</a:t>
            </a:r>
          </a:p>
          <a:p>
            <a:pPr>
              <a:buNone/>
            </a:pPr>
            <a:endParaRPr lang="en-US" sz="1500" dirty="0"/>
          </a:p>
          <a:p>
            <a:pPr>
              <a:buNone/>
            </a:pPr>
            <a:r>
              <a:rPr lang="en-US" sz="1500" b="1" dirty="0"/>
              <a:t>2. What does IDE stand for?</a:t>
            </a:r>
          </a:p>
          <a:p>
            <a:pPr>
              <a:buNone/>
            </a:pPr>
            <a:r>
              <a:rPr lang="en-US" sz="1500" dirty="0"/>
              <a:t>A) Internal Data Environment</a:t>
            </a:r>
            <a:br>
              <a:rPr lang="en-US" sz="1500" dirty="0"/>
            </a:br>
            <a:r>
              <a:rPr lang="en-US" sz="1500" dirty="0"/>
              <a:t>B) Integrated Development Environment</a:t>
            </a:r>
            <a:br>
              <a:rPr lang="en-US" sz="1500" dirty="0"/>
            </a:br>
            <a:r>
              <a:rPr lang="en-US" sz="1500" dirty="0"/>
              <a:t>C) Internet Development Editor</a:t>
            </a:r>
            <a:br>
              <a:rPr lang="en-US" sz="1500" dirty="0"/>
            </a:br>
            <a:r>
              <a:rPr lang="en-US" sz="1500" dirty="0"/>
              <a:t>D) Interactive Debugging Engine</a:t>
            </a:r>
          </a:p>
          <a:p>
            <a:pPr>
              <a:buNone/>
            </a:pPr>
            <a:r>
              <a:rPr lang="en-US" sz="1500" dirty="0"/>
              <a:t> </a:t>
            </a:r>
          </a:p>
          <a:p>
            <a:pPr>
              <a:buNone/>
            </a:pPr>
            <a:r>
              <a:rPr lang="en-US" sz="1500" b="1" dirty="0"/>
              <a:t>3. What does an IDE usually include?</a:t>
            </a:r>
          </a:p>
          <a:p>
            <a:pPr>
              <a:buNone/>
            </a:pPr>
            <a:r>
              <a:rPr lang="en-US" sz="1500" dirty="0"/>
              <a:t>A) Compiler and text editor only</a:t>
            </a:r>
            <a:br>
              <a:rPr lang="en-US" sz="1500" dirty="0"/>
            </a:br>
            <a:r>
              <a:rPr lang="en-US" sz="1500" dirty="0"/>
              <a:t>B) Editor, compiler/interpreter, and debugger</a:t>
            </a:r>
            <a:br>
              <a:rPr lang="en-US" sz="1500" dirty="0"/>
            </a:br>
            <a:r>
              <a:rPr lang="en-US" sz="1500" dirty="0"/>
              <a:t>C) Hardware simulator</a:t>
            </a:r>
            <a:br>
              <a:rPr lang="en-US" sz="1500" dirty="0"/>
            </a:br>
            <a:r>
              <a:rPr lang="en-US" sz="1500" dirty="0"/>
              <a:t>D) File explorer only</a:t>
            </a:r>
          </a:p>
          <a:p>
            <a:pPr>
              <a:buNone/>
            </a:pPr>
            <a:endParaRPr lang="en-US" sz="1500" dirty="0"/>
          </a:p>
          <a:p>
            <a:pPr>
              <a:buNone/>
            </a:pPr>
            <a:r>
              <a:rPr lang="en-US" sz="1500" b="1" dirty="0"/>
              <a:t>4. What is syntax in programming?</a:t>
            </a:r>
          </a:p>
          <a:p>
            <a:pPr>
              <a:buNone/>
            </a:pPr>
            <a:r>
              <a:rPr lang="en-US" sz="1500" dirty="0"/>
              <a:t>A) The meaning of the code</a:t>
            </a:r>
            <a:br>
              <a:rPr lang="en-US" sz="1500" dirty="0"/>
            </a:br>
            <a:r>
              <a:rPr lang="en-US" sz="1500" dirty="0"/>
              <a:t>B) The logical design of a program</a:t>
            </a:r>
            <a:br>
              <a:rPr lang="en-US" sz="1500" dirty="0"/>
            </a:br>
            <a:r>
              <a:rPr lang="en-US" sz="1500" dirty="0"/>
              <a:t>C) The grammar and structure rules of a programming language</a:t>
            </a:r>
            <a:br>
              <a:rPr lang="en-US" sz="1500" dirty="0"/>
            </a:br>
            <a:r>
              <a:rPr lang="en-US" sz="1500" dirty="0"/>
              <a:t>D) The hardware setup</a:t>
            </a:r>
          </a:p>
          <a:p>
            <a:pPr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5966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2AF4FF-C330-3319-1D79-41A816AD1C3D}"/>
              </a:ext>
            </a:extLst>
          </p:cNvPr>
          <p:cNvSpPr txBox="1"/>
          <p:nvPr/>
        </p:nvSpPr>
        <p:spPr>
          <a:xfrm>
            <a:off x="168349" y="158874"/>
            <a:ext cx="6166883" cy="540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b="1" dirty="0"/>
              <a:t>5. What happens if syntax rules are not followed?</a:t>
            </a:r>
          </a:p>
          <a:p>
            <a:pPr>
              <a:buNone/>
            </a:pPr>
            <a:r>
              <a:rPr lang="en-US" sz="1500" dirty="0"/>
              <a:t>A) The code will not execute</a:t>
            </a:r>
            <a:br>
              <a:rPr lang="en-US" sz="1500" dirty="0"/>
            </a:br>
            <a:r>
              <a:rPr lang="en-US" sz="1500" dirty="0"/>
              <a:t>B) The code runs faster </a:t>
            </a:r>
            <a:br>
              <a:rPr lang="en-US" sz="1500" dirty="0"/>
            </a:br>
            <a:r>
              <a:rPr lang="en-US" sz="1500" dirty="0"/>
              <a:t>C) The code becomes encrypted</a:t>
            </a:r>
            <a:br>
              <a:rPr lang="en-US" sz="1500" dirty="0"/>
            </a:br>
            <a:r>
              <a:rPr lang="en-US" sz="1500" dirty="0"/>
              <a:t>D) The computer ignores the mistake</a:t>
            </a:r>
          </a:p>
          <a:p>
            <a:pPr>
              <a:buNone/>
            </a:pPr>
            <a:endParaRPr lang="en-US" sz="1500" dirty="0"/>
          </a:p>
          <a:p>
            <a:pPr>
              <a:buNone/>
            </a:pPr>
            <a:r>
              <a:rPr lang="en-US" sz="1500" b="1" dirty="0"/>
              <a:t>6. What is the main difference between a compiler and an interpreter?</a:t>
            </a:r>
          </a:p>
          <a:p>
            <a:pPr>
              <a:buNone/>
            </a:pPr>
            <a:r>
              <a:rPr lang="en-US" sz="1500" dirty="0"/>
              <a:t>A) Compiler translates line by line, interpreter translates all at once</a:t>
            </a:r>
            <a:br>
              <a:rPr lang="en-US" sz="1500" dirty="0"/>
            </a:br>
            <a:r>
              <a:rPr lang="en-US" sz="1500" dirty="0"/>
              <a:t>B) Compiler translates all at once, interpreter translates line by line</a:t>
            </a:r>
            <a:br>
              <a:rPr lang="en-US" sz="1500" dirty="0"/>
            </a:br>
            <a:r>
              <a:rPr lang="en-US" sz="1500" dirty="0"/>
              <a:t>C) Both translate line by line</a:t>
            </a:r>
            <a:br>
              <a:rPr lang="en-US" sz="1500" dirty="0"/>
            </a:br>
            <a:r>
              <a:rPr lang="en-US" sz="1500" dirty="0"/>
              <a:t>D) Both translate the entire code together</a:t>
            </a:r>
          </a:p>
          <a:p>
            <a:pPr>
              <a:buNone/>
            </a:pPr>
            <a:endParaRPr lang="en-US" sz="1500" b="1" dirty="0"/>
          </a:p>
          <a:p>
            <a:pPr>
              <a:buNone/>
            </a:pPr>
            <a:r>
              <a:rPr lang="en-US" sz="1500" b="1" dirty="0"/>
              <a:t>7. Which tool is mainly used to write code?</a:t>
            </a:r>
          </a:p>
          <a:p>
            <a:pPr>
              <a:buNone/>
            </a:pPr>
            <a:r>
              <a:rPr lang="en-US" sz="1500" dirty="0"/>
              <a:t>A) Compiler</a:t>
            </a:r>
            <a:br>
              <a:rPr lang="en-US" sz="1500" dirty="0"/>
            </a:br>
            <a:r>
              <a:rPr lang="en-US" sz="1500" dirty="0"/>
              <a:t>B) Debugger </a:t>
            </a:r>
            <a:br>
              <a:rPr lang="en-US" sz="1500" dirty="0"/>
            </a:br>
            <a:r>
              <a:rPr lang="en-US" sz="1500" dirty="0"/>
              <a:t>C) Interpreter</a:t>
            </a:r>
            <a:br>
              <a:rPr lang="en-US" sz="1500" dirty="0"/>
            </a:br>
            <a:r>
              <a:rPr lang="en-US" sz="1500" dirty="0"/>
              <a:t>D) Editor</a:t>
            </a:r>
          </a:p>
          <a:p>
            <a:pPr>
              <a:buNone/>
            </a:pPr>
            <a:endParaRPr lang="en-US" sz="1500" dirty="0"/>
          </a:p>
          <a:p>
            <a:pPr>
              <a:buNone/>
            </a:pPr>
            <a:r>
              <a:rPr lang="en-US" sz="1500" b="1" dirty="0"/>
              <a:t>8. Which data type is used to store decimal numbers?</a:t>
            </a:r>
          </a:p>
          <a:p>
            <a:pPr>
              <a:buNone/>
            </a:pPr>
            <a:r>
              <a:rPr lang="en-US" sz="1500" dirty="0"/>
              <a:t>A) int</a:t>
            </a:r>
            <a:br>
              <a:rPr lang="en-US" sz="1500" dirty="0"/>
            </a:br>
            <a:r>
              <a:rPr lang="en-US" sz="1500" dirty="0"/>
              <a:t>B) float</a:t>
            </a:r>
            <a:br>
              <a:rPr lang="en-US" sz="1500" dirty="0"/>
            </a:br>
            <a:r>
              <a:rPr lang="en-US" sz="1500" dirty="0"/>
              <a:t>C) string</a:t>
            </a:r>
            <a:br>
              <a:rPr lang="en-US" sz="1500" dirty="0"/>
            </a:br>
            <a:r>
              <a:rPr lang="en-US" sz="1500" dirty="0"/>
              <a:t>D) bool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FD3E9D-9353-FD65-7725-9F380454C3D4}"/>
              </a:ext>
            </a:extLst>
          </p:cNvPr>
          <p:cNvSpPr txBox="1"/>
          <p:nvPr/>
        </p:nvSpPr>
        <p:spPr>
          <a:xfrm>
            <a:off x="6096000" y="158874"/>
            <a:ext cx="6096000" cy="540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b="1" dirty="0"/>
              <a:t>5. What is the output of the following code?</a:t>
            </a:r>
          </a:p>
          <a:p>
            <a:pPr rtl="0">
              <a:buNone/>
            </a:pPr>
            <a:r>
              <a:rPr lang="en-US" sz="1500" dirty="0">
                <a:latin typeface="Courier New" panose="02070309020205020404" pitchFamily="49" charset="0"/>
              </a:rPr>
              <a:t>x = 10</a:t>
            </a:r>
          </a:p>
          <a:p>
            <a:pPr rtl="0">
              <a:buNone/>
            </a:pPr>
            <a:r>
              <a:rPr lang="en-US" sz="1500" dirty="0">
                <a:latin typeface="Courier New" panose="02070309020205020404" pitchFamily="49" charset="0"/>
              </a:rPr>
              <a:t>if x &gt; 5:</a:t>
            </a:r>
          </a:p>
          <a:p>
            <a:pPr rtl="0">
              <a:buNone/>
            </a:pPr>
            <a:r>
              <a:rPr lang="en-US" sz="1500" dirty="0">
                <a:latin typeface="Courier New" panose="02070309020205020404" pitchFamily="49" charset="0"/>
              </a:rPr>
              <a:t>    print("Big")</a:t>
            </a:r>
          </a:p>
          <a:p>
            <a:pPr rtl="0">
              <a:buNone/>
            </a:pPr>
            <a:r>
              <a:rPr lang="en-US" sz="1500" dirty="0">
                <a:latin typeface="Courier New" panose="02070309020205020404" pitchFamily="49" charset="0"/>
              </a:rPr>
              <a:t>else:</a:t>
            </a:r>
          </a:p>
          <a:p>
            <a:pPr rtl="0">
              <a:buNone/>
            </a:pPr>
            <a:r>
              <a:rPr lang="en-US" sz="1500" dirty="0">
                <a:latin typeface="Courier New" panose="02070309020205020404" pitchFamily="49" charset="0"/>
              </a:rPr>
              <a:t>    print("Small")</a:t>
            </a:r>
          </a:p>
          <a:p>
            <a:pPr rtl="0">
              <a:buNone/>
            </a:pPr>
            <a:endParaRPr lang="en-US" sz="150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1500" dirty="0"/>
              <a:t>A) Big</a:t>
            </a:r>
            <a:br>
              <a:rPr lang="en-US" sz="1500" dirty="0"/>
            </a:br>
            <a:r>
              <a:rPr lang="en-US" sz="1500" dirty="0"/>
              <a:t>B) Small</a:t>
            </a:r>
            <a:br>
              <a:rPr lang="en-US" sz="1500" dirty="0"/>
            </a:br>
            <a:r>
              <a:rPr lang="en-US" sz="1500" dirty="0"/>
              <a:t>C) Error</a:t>
            </a:r>
            <a:br>
              <a:rPr lang="en-US" sz="1500" dirty="0"/>
            </a:br>
            <a:r>
              <a:rPr lang="en-US" sz="1500" dirty="0"/>
              <a:t>D) Nothing</a:t>
            </a:r>
          </a:p>
          <a:p>
            <a:pPr>
              <a:buNone/>
            </a:pPr>
            <a:endParaRPr lang="en-US" sz="1500" dirty="0"/>
          </a:p>
          <a:p>
            <a:pPr>
              <a:buNone/>
            </a:pPr>
            <a:r>
              <a:rPr lang="en-US" sz="1500" b="1" dirty="0"/>
              <a:t>6. Which of the following represents a </a:t>
            </a:r>
            <a:r>
              <a:rPr lang="en-US" sz="1500" b="1" dirty="0" err="1"/>
              <a:t>boolean</a:t>
            </a:r>
            <a:r>
              <a:rPr lang="en-US" sz="1500" b="1" dirty="0"/>
              <a:t> value?</a:t>
            </a:r>
          </a:p>
          <a:p>
            <a:pPr>
              <a:buNone/>
            </a:pPr>
            <a:r>
              <a:rPr lang="en-US" sz="1500" dirty="0"/>
              <a:t>A) “Yes” and “No”</a:t>
            </a:r>
            <a:br>
              <a:rPr lang="en-US" sz="1500" dirty="0"/>
            </a:br>
            <a:r>
              <a:rPr lang="en-US" sz="1500" dirty="0"/>
              <a:t>B) 1 and 0</a:t>
            </a:r>
            <a:br>
              <a:rPr lang="en-US" sz="1500" dirty="0"/>
            </a:br>
            <a:r>
              <a:rPr lang="en-US" sz="1500" dirty="0"/>
              <a:t>C) True and False</a:t>
            </a:r>
            <a:br>
              <a:rPr lang="en-US" sz="1500" dirty="0"/>
            </a:br>
            <a:r>
              <a:rPr lang="en-US" sz="1500" dirty="0"/>
              <a:t>D) Integer numbers only</a:t>
            </a:r>
          </a:p>
          <a:p>
            <a:pPr>
              <a:buNone/>
            </a:pPr>
            <a:endParaRPr lang="en-US" sz="1500" dirty="0"/>
          </a:p>
          <a:p>
            <a:pPr>
              <a:buNone/>
            </a:pPr>
            <a:r>
              <a:rPr lang="en-US" sz="1500" b="1" dirty="0"/>
              <a:t>7. Which conditional statement is used in Python to make decisions?</a:t>
            </a:r>
          </a:p>
          <a:p>
            <a:pPr>
              <a:buNone/>
            </a:pPr>
            <a:r>
              <a:rPr lang="en-US" sz="1500" dirty="0"/>
              <a:t>A) loop</a:t>
            </a:r>
            <a:br>
              <a:rPr lang="en-US" sz="1500" dirty="0"/>
            </a:br>
            <a:r>
              <a:rPr lang="en-US" sz="1500" dirty="0"/>
              <a:t>B) while</a:t>
            </a:r>
            <a:br>
              <a:rPr lang="en-US" sz="1500" dirty="0"/>
            </a:br>
            <a:r>
              <a:rPr lang="en-US" sz="1500" dirty="0"/>
              <a:t>C) if–else</a:t>
            </a:r>
            <a:br>
              <a:rPr lang="en-US" sz="1500" dirty="0"/>
            </a:br>
            <a:r>
              <a:rPr lang="en-US" sz="1500" dirty="0"/>
              <a:t>D) switch</a:t>
            </a:r>
          </a:p>
        </p:txBody>
      </p:sp>
    </p:spTree>
    <p:extLst>
      <p:ext uri="{BB962C8B-B14F-4D97-AF65-F5344CB8AC3E}">
        <p14:creationId xmlns:p14="http://schemas.microsoft.com/office/powerpoint/2010/main" val="823418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72E5736-9A7C-52B6-8716-BF3F08276446}"/>
              </a:ext>
            </a:extLst>
          </p:cNvPr>
          <p:cNvSpPr txBox="1">
            <a:spLocks/>
          </p:cNvSpPr>
          <p:nvPr/>
        </p:nvSpPr>
        <p:spPr>
          <a:xfrm>
            <a:off x="1290320" y="2687003"/>
            <a:ext cx="9144000" cy="2387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  QUIZ (2)</a:t>
            </a:r>
          </a:p>
        </p:txBody>
      </p:sp>
    </p:spTree>
    <p:extLst>
      <p:ext uri="{BB962C8B-B14F-4D97-AF65-F5344CB8AC3E}">
        <p14:creationId xmlns:p14="http://schemas.microsoft.com/office/powerpoint/2010/main" val="482004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9A198-0008-8EA9-67B0-CCBD44F76BE3}"/>
              </a:ext>
            </a:extLst>
          </p:cNvPr>
          <p:cNvSpPr txBox="1"/>
          <p:nvPr/>
        </p:nvSpPr>
        <p:spPr>
          <a:xfrm>
            <a:off x="349625" y="245218"/>
            <a:ext cx="50740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500" b="1" dirty="0"/>
              <a:t>Model (A)</a:t>
            </a:r>
            <a:endParaRPr lang="ar-EG" sz="1500" b="1" dirty="0"/>
          </a:p>
          <a:p>
            <a:pPr algn="ctr">
              <a:buNone/>
            </a:pPr>
            <a:endParaRPr lang="en-US" sz="15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50CF0A-973B-AD5A-A8F0-C54601336007}"/>
              </a:ext>
            </a:extLst>
          </p:cNvPr>
          <p:cNvSpPr txBox="1"/>
          <p:nvPr/>
        </p:nvSpPr>
        <p:spPr>
          <a:xfrm>
            <a:off x="5423648" y="241807"/>
            <a:ext cx="6589058" cy="6324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b="1" dirty="0"/>
              <a:t>Model (B)</a:t>
            </a:r>
          </a:p>
          <a:p>
            <a:pPr>
              <a:buNone/>
            </a:pPr>
            <a:endParaRPr lang="en-US" sz="1500" b="1" dirty="0"/>
          </a:p>
          <a:p>
            <a:pPr>
              <a:buNone/>
            </a:pPr>
            <a:r>
              <a:rPr lang="en-US" sz="1500" b="1" dirty="0"/>
              <a:t>1. Which of the following is a domain-specific language?</a:t>
            </a:r>
          </a:p>
          <a:p>
            <a:pPr>
              <a:buNone/>
            </a:pPr>
            <a:r>
              <a:rPr lang="en-US" sz="1500" dirty="0"/>
              <a:t>A) Python</a:t>
            </a:r>
            <a:br>
              <a:rPr lang="en-US" sz="1500" dirty="0"/>
            </a:br>
            <a:r>
              <a:rPr lang="en-US" sz="1500" dirty="0"/>
              <a:t>B) C++</a:t>
            </a:r>
            <a:br>
              <a:rPr lang="en-US" sz="1500" dirty="0"/>
            </a:br>
            <a:r>
              <a:rPr lang="en-US" sz="1500" dirty="0"/>
              <a:t>C) SQL</a:t>
            </a:r>
            <a:br>
              <a:rPr lang="en-US" sz="1500" dirty="0"/>
            </a:br>
            <a:r>
              <a:rPr lang="en-US" sz="1500" dirty="0"/>
              <a:t>D) Java</a:t>
            </a:r>
          </a:p>
          <a:p>
            <a:pPr>
              <a:buNone/>
            </a:pPr>
            <a:endParaRPr lang="en-US" sz="1500" dirty="0"/>
          </a:p>
          <a:p>
            <a:pPr>
              <a:buNone/>
            </a:pPr>
            <a:r>
              <a:rPr lang="en-US" sz="1500" b="1" dirty="0"/>
              <a:t>2. What does IDE stand for?</a:t>
            </a:r>
          </a:p>
          <a:p>
            <a:pPr>
              <a:buNone/>
            </a:pPr>
            <a:r>
              <a:rPr lang="en-US" sz="1500" dirty="0"/>
              <a:t>A) Internal Data Environment</a:t>
            </a:r>
            <a:br>
              <a:rPr lang="en-US" sz="1500" dirty="0"/>
            </a:br>
            <a:r>
              <a:rPr lang="en-US" sz="1500" dirty="0"/>
              <a:t>B) Integrated Development Environment</a:t>
            </a:r>
            <a:br>
              <a:rPr lang="en-US" sz="1500" dirty="0"/>
            </a:br>
            <a:r>
              <a:rPr lang="en-US" sz="1500" dirty="0"/>
              <a:t>C) Internet Development Editor</a:t>
            </a:r>
            <a:br>
              <a:rPr lang="en-US" sz="1500" dirty="0"/>
            </a:br>
            <a:r>
              <a:rPr lang="en-US" sz="1500" dirty="0"/>
              <a:t>D) Interactive Debugging Engine</a:t>
            </a:r>
          </a:p>
          <a:p>
            <a:pPr>
              <a:buNone/>
            </a:pPr>
            <a:r>
              <a:rPr lang="en-US" sz="1500" dirty="0"/>
              <a:t> </a:t>
            </a:r>
          </a:p>
          <a:p>
            <a:pPr>
              <a:buNone/>
            </a:pPr>
            <a:r>
              <a:rPr lang="en-US" sz="1500" b="1" dirty="0"/>
              <a:t>3. Which of the following is a high-level language?</a:t>
            </a:r>
          </a:p>
          <a:p>
            <a:pPr>
              <a:buNone/>
            </a:pPr>
            <a:r>
              <a:rPr lang="en-US" sz="1500" dirty="0"/>
              <a:t>A) Assembly</a:t>
            </a:r>
            <a:br>
              <a:rPr lang="en-US" sz="1500" dirty="0"/>
            </a:br>
            <a:r>
              <a:rPr lang="en-US" sz="1500" dirty="0"/>
              <a:t>B) Machine Code</a:t>
            </a:r>
            <a:br>
              <a:rPr lang="en-US" sz="1500" dirty="0"/>
            </a:br>
            <a:r>
              <a:rPr lang="en-US" sz="1500" dirty="0"/>
              <a:t>C) C++</a:t>
            </a:r>
            <a:br>
              <a:rPr lang="en-US" sz="1500" dirty="0"/>
            </a:br>
            <a:r>
              <a:rPr lang="en-US" sz="1500" dirty="0"/>
              <a:t>D) Binary</a:t>
            </a:r>
          </a:p>
          <a:p>
            <a:pPr>
              <a:buNone/>
            </a:pPr>
            <a:endParaRPr lang="en-US" sz="1500" dirty="0"/>
          </a:p>
          <a:p>
            <a:pPr>
              <a:buNone/>
            </a:pPr>
            <a:r>
              <a:rPr lang="en-US" sz="1500" b="1" dirty="0"/>
              <a:t>4. What are low-level languages mainly used for?</a:t>
            </a:r>
          </a:p>
          <a:p>
            <a:pPr>
              <a:buNone/>
            </a:pPr>
            <a:r>
              <a:rPr lang="en-US" sz="1500" dirty="0"/>
              <a:t>A) Website development</a:t>
            </a:r>
            <a:br>
              <a:rPr lang="en-US" sz="1500" dirty="0"/>
            </a:br>
            <a:r>
              <a:rPr lang="en-US" sz="1500" dirty="0"/>
              <a:t>B) Controlling hardware directly</a:t>
            </a:r>
            <a:br>
              <a:rPr lang="en-US" sz="1500" dirty="0"/>
            </a:br>
            <a:r>
              <a:rPr lang="en-US" sz="1500" dirty="0"/>
              <a:t>C) Artificial intelligence</a:t>
            </a:r>
            <a:br>
              <a:rPr lang="en-US" sz="1500" dirty="0"/>
            </a:br>
            <a:r>
              <a:rPr lang="en-US" sz="1500" dirty="0"/>
              <a:t>D) Graphic design</a:t>
            </a:r>
          </a:p>
          <a:p>
            <a:pPr>
              <a:buNone/>
            </a:pPr>
            <a:r>
              <a:rPr lang="en-US" sz="1500" dirty="0"/>
              <a:t> </a:t>
            </a:r>
          </a:p>
          <a:p>
            <a:pPr>
              <a:buNone/>
            </a:pPr>
            <a:endParaRPr 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4A2B75A-D695-265B-548D-347FF99AC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294" y="799216"/>
            <a:ext cx="4563045" cy="6571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r-EG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.What will be the output of the following code?</a:t>
            </a:r>
            <a:endParaRPr kumimoji="0" lang="en-US" altLang="en-US" sz="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print("5" + "5") 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10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55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Error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None</a:t>
            </a:r>
            <a:endParaRPr lang="en-US" altLang="en-US" sz="1400" dirty="0">
              <a:latin typeface="Arial" panose="020B0604020202020204" pitchFamily="34" charset="0"/>
            </a:endParaRPr>
          </a:p>
          <a:p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</a:t>
            </a:r>
            <a:r>
              <a:rPr lang="en-US" sz="1400" b="1" dirty="0"/>
              <a:t> What is the correct syntax to print multiple variables?</a:t>
            </a:r>
          </a:p>
          <a:p>
            <a:pPr algn="ctr"/>
            <a:r>
              <a:rPr lang="en-US" sz="1600" dirty="0"/>
              <a:t>x = "AI"</a:t>
            </a:r>
          </a:p>
          <a:p>
            <a:pPr algn="ctr"/>
            <a:r>
              <a:rPr lang="en-US" sz="1600" dirty="0"/>
              <a:t>            y = "Robotics"</a:t>
            </a:r>
          </a:p>
          <a:p>
            <a:pPr algn="ctr"/>
            <a:r>
              <a:rPr lang="en-US" sz="1600" dirty="0"/>
              <a:t>       print( ??? )</a:t>
            </a:r>
          </a:p>
          <a:p>
            <a:r>
              <a:rPr lang="en-US" sz="1400" dirty="0"/>
              <a:t>A) print(x + " " + y)</a:t>
            </a:r>
          </a:p>
          <a:p>
            <a:r>
              <a:rPr lang="en-US" sz="1400" dirty="0"/>
              <a:t>B) print(x, y)</a:t>
            </a:r>
          </a:p>
          <a:p>
            <a:r>
              <a:rPr lang="en-US" sz="1400" dirty="0"/>
              <a:t>C) Both A and B</a:t>
            </a:r>
          </a:p>
          <a:p>
            <a:r>
              <a:rPr lang="en-US" sz="1400" dirty="0"/>
              <a:t>D) print(x y)</a:t>
            </a:r>
          </a:p>
          <a:p>
            <a:r>
              <a:rPr lang="en-US" sz="1400" b="1" dirty="0"/>
              <a:t>3. Which of the following is not a valid variable name?</a:t>
            </a:r>
          </a:p>
          <a:p>
            <a:r>
              <a:rPr lang="en-US" sz="1400" dirty="0"/>
              <a:t>A) </a:t>
            </a:r>
            <a:r>
              <a:rPr lang="en-US" sz="1400" dirty="0" err="1"/>
              <a:t>my_var</a:t>
            </a:r>
            <a:endParaRPr lang="en-US" sz="1400" dirty="0"/>
          </a:p>
          <a:p>
            <a:r>
              <a:rPr lang="en-US" sz="1400" dirty="0"/>
              <a:t>B) 2name</a:t>
            </a:r>
          </a:p>
          <a:p>
            <a:r>
              <a:rPr lang="en-US" sz="1400" dirty="0"/>
              <a:t>C) name_2</a:t>
            </a:r>
          </a:p>
          <a:p>
            <a:r>
              <a:rPr lang="en-US" sz="1400" dirty="0"/>
              <a:t>D) _data</a:t>
            </a:r>
          </a:p>
          <a:p>
            <a:r>
              <a:rPr lang="en-US" sz="1400" b="1" dirty="0"/>
              <a:t>4. What is the output of:</a:t>
            </a:r>
          </a:p>
          <a:p>
            <a:pPr algn="ctr"/>
            <a:r>
              <a:rPr lang="en-US" sz="1600" dirty="0"/>
              <a:t>a = 5</a:t>
            </a:r>
          </a:p>
          <a:p>
            <a:pPr algn="ctr"/>
            <a:r>
              <a:rPr lang="en-US" sz="1600" dirty="0"/>
              <a:t>b = 3</a:t>
            </a:r>
          </a:p>
          <a:p>
            <a:pPr algn="ctr"/>
            <a:r>
              <a:rPr lang="en-US" sz="1600" dirty="0"/>
              <a:t>             print(a ** b)</a:t>
            </a:r>
          </a:p>
          <a:p>
            <a:r>
              <a:rPr lang="en-US" sz="1200" dirty="0"/>
              <a:t>A) 15</a:t>
            </a:r>
          </a:p>
          <a:p>
            <a:r>
              <a:rPr lang="en-US" sz="1200" dirty="0"/>
              <a:t>B) 125</a:t>
            </a:r>
          </a:p>
          <a:p>
            <a:r>
              <a:rPr lang="en-US" sz="1200" dirty="0"/>
              <a:t>C) 8</a:t>
            </a:r>
          </a:p>
          <a:p>
            <a:r>
              <a:rPr lang="en-US" sz="1200" dirty="0"/>
              <a:t>D) Error</a:t>
            </a:r>
          </a:p>
          <a:p>
            <a:endParaRPr lang="en-US" sz="1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320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5788F9C-10A7-28C0-6BEE-48A24B662E8B}"/>
              </a:ext>
            </a:extLst>
          </p:cNvPr>
          <p:cNvSpPr txBox="1"/>
          <p:nvPr/>
        </p:nvSpPr>
        <p:spPr>
          <a:xfrm>
            <a:off x="71120" y="158874"/>
            <a:ext cx="609600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5. What is the output of the following code?</a:t>
            </a:r>
          </a:p>
          <a:p>
            <a:pPr rtl="0">
              <a:buNone/>
            </a:pPr>
            <a:r>
              <a:rPr lang="en-US" sz="1600" dirty="0">
                <a:latin typeface="Courier New" panose="02070309020205020404" pitchFamily="49" charset="0"/>
              </a:rPr>
              <a:t>x = 10</a:t>
            </a:r>
          </a:p>
          <a:p>
            <a:pPr rtl="0">
              <a:buNone/>
            </a:pPr>
            <a:r>
              <a:rPr lang="en-US" sz="1600" dirty="0">
                <a:latin typeface="Courier New" panose="02070309020205020404" pitchFamily="49" charset="0"/>
              </a:rPr>
              <a:t>if x &gt; 5:</a:t>
            </a:r>
          </a:p>
          <a:p>
            <a:pPr rtl="0">
              <a:buNone/>
            </a:pPr>
            <a:r>
              <a:rPr lang="en-US" sz="1600" dirty="0">
                <a:latin typeface="Courier New" panose="02070309020205020404" pitchFamily="49" charset="0"/>
              </a:rPr>
              <a:t>    print("Big")</a:t>
            </a:r>
          </a:p>
          <a:p>
            <a:pPr rtl="0">
              <a:buNone/>
            </a:pPr>
            <a:r>
              <a:rPr lang="en-US" sz="1600" dirty="0">
                <a:latin typeface="Courier New" panose="02070309020205020404" pitchFamily="49" charset="0"/>
              </a:rPr>
              <a:t>else:</a:t>
            </a:r>
          </a:p>
          <a:p>
            <a:pPr rtl="0">
              <a:buNone/>
            </a:pPr>
            <a:r>
              <a:rPr lang="en-US" sz="1600" dirty="0">
                <a:latin typeface="Courier New" panose="02070309020205020404" pitchFamily="49" charset="0"/>
              </a:rPr>
              <a:t>    print("Small")</a:t>
            </a:r>
          </a:p>
          <a:p>
            <a:pPr rtl="0">
              <a:buNone/>
            </a:pPr>
            <a:endParaRPr lang="en-US" sz="160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/>
              <a:t>A) Big</a:t>
            </a:r>
            <a:br>
              <a:rPr lang="en-US" sz="1600" dirty="0"/>
            </a:br>
            <a:r>
              <a:rPr lang="en-US" sz="1600" dirty="0"/>
              <a:t>B) Small</a:t>
            </a:r>
            <a:br>
              <a:rPr lang="en-US" sz="1600" dirty="0"/>
            </a:br>
            <a:r>
              <a:rPr lang="en-US" sz="1600" dirty="0"/>
              <a:t>C) Error</a:t>
            </a:r>
            <a:br>
              <a:rPr lang="en-US" sz="1600" dirty="0"/>
            </a:br>
            <a:r>
              <a:rPr lang="en-US" sz="1600" dirty="0"/>
              <a:t>D) Nothing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6. Which of the following represents a </a:t>
            </a:r>
            <a:r>
              <a:rPr lang="en-US" sz="1600" b="1" dirty="0" err="1"/>
              <a:t>boolean</a:t>
            </a:r>
            <a:r>
              <a:rPr lang="en-US" sz="1600" b="1" dirty="0"/>
              <a:t> value?</a:t>
            </a:r>
          </a:p>
          <a:p>
            <a:pPr>
              <a:buNone/>
            </a:pPr>
            <a:r>
              <a:rPr lang="en-US" sz="1600" dirty="0"/>
              <a:t>A) “Yes” and “No”</a:t>
            </a:r>
            <a:br>
              <a:rPr lang="en-US" sz="1600" dirty="0"/>
            </a:br>
            <a:r>
              <a:rPr lang="en-US" sz="1600" dirty="0"/>
              <a:t>B) 1 and 0</a:t>
            </a:r>
            <a:br>
              <a:rPr lang="en-US" sz="1600" dirty="0"/>
            </a:br>
            <a:r>
              <a:rPr lang="en-US" sz="1600" dirty="0"/>
              <a:t>C) True and False</a:t>
            </a:r>
            <a:br>
              <a:rPr lang="en-US" sz="1600" dirty="0"/>
            </a:br>
            <a:r>
              <a:rPr lang="en-US" sz="1600" dirty="0"/>
              <a:t>D) Integer numbers only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7. Which conditional statement is used in Python to make decisions?</a:t>
            </a:r>
          </a:p>
          <a:p>
            <a:pPr>
              <a:buNone/>
            </a:pPr>
            <a:r>
              <a:rPr lang="en-US" sz="1600" dirty="0"/>
              <a:t>A) loop</a:t>
            </a:r>
            <a:br>
              <a:rPr lang="en-US" sz="1600" dirty="0"/>
            </a:br>
            <a:r>
              <a:rPr lang="en-US" sz="1600" dirty="0"/>
              <a:t>B) while</a:t>
            </a:r>
            <a:br>
              <a:rPr lang="en-US" sz="1600" dirty="0"/>
            </a:br>
            <a:r>
              <a:rPr lang="en-US" sz="1600" dirty="0"/>
              <a:t>C) if–else</a:t>
            </a:r>
            <a:br>
              <a:rPr lang="en-US" sz="1600" dirty="0"/>
            </a:br>
            <a:r>
              <a:rPr lang="en-US" sz="1600" dirty="0"/>
              <a:t>D) switch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263891D-1BF5-89A4-9729-D580AEC17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760" y="0"/>
            <a:ext cx="5261056" cy="7140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5.Which operator is used to compare values?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=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==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:=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D) =!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6.Which of the following data types is immutable?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list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tuple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Dict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1600" b="1" dirty="0"/>
              <a:t>7.What will the output be?</a:t>
            </a:r>
          </a:p>
          <a:p>
            <a:pPr algn="ctr"/>
            <a:r>
              <a:rPr lang="en-US" sz="1600" dirty="0"/>
              <a:t>x = 10</a:t>
            </a:r>
          </a:p>
          <a:p>
            <a:pPr algn="ctr"/>
            <a:r>
              <a:rPr lang="en-US" sz="1600" dirty="0"/>
              <a:t>y = 5</a:t>
            </a:r>
          </a:p>
          <a:p>
            <a:pPr algn="ctr"/>
            <a:r>
              <a:rPr lang="en-US" sz="1600" dirty="0"/>
              <a:t>   if x &gt; y:</a:t>
            </a:r>
          </a:p>
          <a:p>
            <a:pPr algn="ctr"/>
            <a:r>
              <a:rPr lang="en-US" sz="1600" dirty="0"/>
              <a:t>                                    print("Robotics")</a:t>
            </a:r>
          </a:p>
          <a:p>
            <a:pPr algn="ctr"/>
            <a:r>
              <a:rPr lang="en-US" sz="1600" dirty="0"/>
              <a:t>else:</a:t>
            </a:r>
          </a:p>
          <a:p>
            <a:pPr algn="ctr"/>
            <a:r>
              <a:rPr lang="en-US" sz="1600" dirty="0"/>
              <a:t>                        print("AI")</a:t>
            </a:r>
          </a:p>
          <a:p>
            <a:r>
              <a:rPr lang="en-US" sz="1600" dirty="0"/>
              <a:t>A) Robotics</a:t>
            </a:r>
          </a:p>
          <a:p>
            <a:r>
              <a:rPr lang="en-US" sz="1600" dirty="0"/>
              <a:t>B) AI</a:t>
            </a:r>
          </a:p>
          <a:p>
            <a:r>
              <a:rPr lang="en-US" sz="1600" dirty="0"/>
              <a:t>C) None</a:t>
            </a:r>
          </a:p>
          <a:p>
            <a:r>
              <a:rPr lang="en-US" sz="1600" dirty="0"/>
              <a:t>D) Error</a:t>
            </a:r>
          </a:p>
          <a:p>
            <a:r>
              <a:rPr lang="en-US" sz="1600" b="1" dirty="0"/>
              <a:t>8. If </a:t>
            </a:r>
            <a:r>
              <a:rPr lang="en-US" b="1" dirty="0"/>
              <a:t>x = 5</a:t>
            </a:r>
            <a:r>
              <a:rPr lang="en-US" sz="1600" b="1" dirty="0"/>
              <a:t>, what is the result of </a:t>
            </a:r>
            <a:r>
              <a:rPr lang="en-US" b="1" dirty="0"/>
              <a:t>x != 5 or x &gt; 3</a:t>
            </a:r>
            <a:r>
              <a:rPr lang="en-US" sz="1600" b="1" dirty="0"/>
              <a:t>?</a:t>
            </a:r>
          </a:p>
          <a:p>
            <a:r>
              <a:rPr lang="en-US" sz="1600" dirty="0"/>
              <a:t>A) True</a:t>
            </a:r>
          </a:p>
          <a:p>
            <a:r>
              <a:rPr lang="en-US" sz="1600" dirty="0"/>
              <a:t>B) False</a:t>
            </a:r>
          </a:p>
          <a:p>
            <a:r>
              <a:rPr lang="en-US" sz="1600" dirty="0"/>
              <a:t>C) None</a:t>
            </a:r>
          </a:p>
          <a:p>
            <a:r>
              <a:rPr lang="en-US" sz="1600" dirty="0"/>
              <a:t>D) Error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862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1077</Words>
  <Application>Microsoft Office PowerPoint</Application>
  <PresentationFormat>Widescreen</PresentationFormat>
  <Paragraphs>137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Unicode MS</vt:lpstr>
      <vt:lpstr>Calibri</vt:lpstr>
      <vt:lpstr>Calibri Light</vt:lpstr>
      <vt:lpstr>Courier New</vt:lpstr>
      <vt:lpstr>Office Theme</vt:lpstr>
      <vt:lpstr>QUIZ (1)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</dc:creator>
  <cp:lastModifiedBy>m</cp:lastModifiedBy>
  <cp:revision>4</cp:revision>
  <dcterms:created xsi:type="dcterms:W3CDTF">2025-11-01T16:28:10Z</dcterms:created>
  <dcterms:modified xsi:type="dcterms:W3CDTF">2025-11-09T18:28:02Z</dcterms:modified>
</cp:coreProperties>
</file>